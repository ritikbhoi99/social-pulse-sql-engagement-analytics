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32B5C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232B5C"/>
                </a:solidFill>
                <a:latin typeface="Calibri"/>
              </a:rPr>
              <a:t>Top 10 Users by Posts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 Users by Posts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Eveline95</c:v>
                  </c:pt>
                  <c:pt idx="1">
                    <c:v>Clint27</c:v>
                  </c:pt>
                  <c:pt idx="2">
                    <c:v>Cesar93</c:v>
                  </c:pt>
                  <c:pt idx="3">
                    <c:v>Delfina_V68</c:v>
                  </c:pt>
                  <c:pt idx="4">
                    <c:v>Aurelie71</c:v>
                  </c:pt>
                  <c:pt idx="5">
                    <c:v>Jaime53</c:v>
                  </c:pt>
                  <c:pt idx="6">
                    <c:v>Donald.Fritsch</c:v>
                  </c:pt>
                  <c:pt idx="7">
                    <c:v>Adelle96</c:v>
                  </c:pt>
                  <c:pt idx="8">
                    <c:v>Josianne.F</c:v>
                  </c:pt>
                  <c:pt idx="9">
                    <c:v>Alexandro35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B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32B5C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232B5C"/>
                </a:solidFill>
                <a:latin typeface="Calibri"/>
              </a:rPr>
              <a:t>Top 10 by Total Engagement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 by Total Engagement</c:v>
                </c:pt>
              </c:strCache>
            </c:strRef>
          </c:tx>
          <c:spPr>
            <a:solidFill>
              <a:srgbClr val="232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Eveline95</c:v>
                  </c:pt>
                  <c:pt idx="1">
                    <c:v>Cesar93</c:v>
                  </c:pt>
                  <c:pt idx="2">
                    <c:v>Clint27</c:v>
                  </c:pt>
                  <c:pt idx="3">
                    <c:v>Delfina_V68</c:v>
                  </c:pt>
                  <c:pt idx="4">
                    <c:v>Aurelie71</c:v>
                  </c:pt>
                  <c:pt idx="5">
                    <c:v>Jaime53</c:v>
                  </c:pt>
                  <c:pt idx="6">
                    <c:v>Donald.Fritsch</c:v>
                  </c:pt>
                  <c:pt idx="7">
                    <c:v>Janet.Armstrong</c:v>
                  </c:pt>
                  <c:pt idx="8">
                    <c:v>Alexandro35</c:v>
                  </c:pt>
                  <c:pt idx="9">
                    <c:v>Zack_K93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405</c:v>
                </c:pt>
                <c:pt idx="1">
                  <c:v>385</c:v>
                </c:pt>
                <c:pt idx="2">
                  <c:v>375</c:v>
                </c:pt>
                <c:pt idx="3">
                  <c:v>347</c:v>
                </c:pt>
                <c:pt idx="4">
                  <c:v>318</c:v>
                </c:pt>
                <c:pt idx="5">
                  <c:v>302</c:v>
                </c:pt>
                <c:pt idx="6">
                  <c:v>247</c:v>
                </c:pt>
                <c:pt idx="7">
                  <c:v>222</c:v>
                </c:pt>
                <c:pt idx="8">
                  <c:v>220</c:v>
                </c:pt>
                <c:pt idx="9">
                  <c:v>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B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32B5C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232B5C"/>
                </a:solidFill>
                <a:latin typeface="Calibri"/>
              </a:rPr>
              <a:t>Top 10 by Avg. Engagement / Post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 by Avg. Engagement / Post</c:v>
                </c:pt>
              </c:strCache>
            </c:strRef>
          </c:tx>
          <c:spPr>
            <a:solidFill>
              <a:srgbClr val="F9C8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Meggie_Doyle</c:v>
                  </c:pt>
                  <c:pt idx="1">
                    <c:v>Jaylan.Lakin</c:v>
                  </c:pt>
                  <c:pt idx="2">
                    <c:v>Granville_K</c:v>
                  </c:pt>
                  <c:pt idx="3">
                    <c:v>Kenneth64</c:v>
                  </c:pt>
                  <c:pt idx="4">
                    <c:v>Damon35</c:v>
                  </c:pt>
                  <c:pt idx="5">
                    <c:v>Karley_Bosco</c:v>
                  </c:pt>
                  <c:pt idx="6">
                    <c:v>Odessa2</c:v>
                  </c:pt>
                  <c:pt idx="7">
                    <c:v>Jayson65</c:v>
                  </c:pt>
                  <c:pt idx="8">
                    <c:v>Kelsi26</c:v>
                  </c:pt>
                  <c:pt idx="9">
                    <c:v>Erick5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</c:v>
                </c:pt>
                <c:pt idx="1">
                  <c:v>73</c:v>
                </c:pt>
                <c:pt idx="2">
                  <c:v>71</c:v>
                </c:pt>
                <c:pt idx="3">
                  <c:v>70</c:v>
                </c:pt>
                <c:pt idx="4">
                  <c:v>68</c:v>
                </c:pt>
                <c:pt idx="5">
                  <c:v>68</c:v>
                </c:pt>
                <c:pt idx="6">
                  <c:v>67</c:v>
                </c:pt>
                <c:pt idx="7">
                  <c:v>66</c:v>
                </c:pt>
                <c:pt idx="8">
                  <c:v>66</c:v>
                </c:pt>
                <c:pt idx="9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B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232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Cesar93</c:v>
                  </c:pt>
                  <c:pt idx="1">
                    <c:v>Eveline95</c:v>
                  </c:pt>
                  <c:pt idx="2">
                    <c:v>Clint27</c:v>
                  </c:pt>
                  <c:pt idx="3">
                    <c:v>Aurelie71</c:v>
                  </c:pt>
                  <c:pt idx="4">
                    <c:v>Delfina_V68</c:v>
                  </c:pt>
                  <c:pt idx="5">
                    <c:v>Donald.F</c:v>
                  </c:pt>
                  <c:pt idx="6">
                    <c:v>Jaime53</c:v>
                  </c:pt>
                  <c:pt idx="7">
                    <c:v>Alexandro35</c:v>
                  </c:pt>
                  <c:pt idx="8">
                    <c:v>Adelle96</c:v>
                  </c:pt>
                  <c:pt idx="9">
                    <c:v>Travon.W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</c:v>
                </c:pt>
                <c:pt idx="1">
                  <c:v>76</c:v>
                </c:pt>
                <c:pt idx="2">
                  <c:v>76</c:v>
                </c:pt>
                <c:pt idx="3">
                  <c:v>76</c:v>
                </c:pt>
                <c:pt idx="4">
                  <c:v>74</c:v>
                </c:pt>
                <c:pt idx="5">
                  <c:v>73</c:v>
                </c:pt>
                <c:pt idx="6">
                  <c:v>73</c:v>
                </c:pt>
                <c:pt idx="7">
                  <c:v>72</c:v>
                </c:pt>
                <c:pt idx="8">
                  <c:v>72</c:v>
                </c:pt>
                <c:pt idx="9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Cesar93</c:v>
                  </c:pt>
                  <c:pt idx="1">
                    <c:v>Eveline95</c:v>
                  </c:pt>
                  <c:pt idx="2">
                    <c:v>Clint27</c:v>
                  </c:pt>
                  <c:pt idx="3">
                    <c:v>Aurelie71</c:v>
                  </c:pt>
                  <c:pt idx="4">
                    <c:v>Delfina_V68</c:v>
                  </c:pt>
                  <c:pt idx="5">
                    <c:v>Donald.F</c:v>
                  </c:pt>
                  <c:pt idx="6">
                    <c:v>Jaime53</c:v>
                  </c:pt>
                  <c:pt idx="7">
                    <c:v>Alexandro35</c:v>
                  </c:pt>
                  <c:pt idx="8">
                    <c:v>Adelle96</c:v>
                  </c:pt>
                  <c:pt idx="9">
                    <c:v>Travon.W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308</c:v>
                </c:pt>
                <c:pt idx="1">
                  <c:v>329</c:v>
                </c:pt>
                <c:pt idx="2">
                  <c:v>299</c:v>
                </c:pt>
                <c:pt idx="3">
                  <c:v>242</c:v>
                </c:pt>
                <c:pt idx="4">
                  <c:v>273</c:v>
                </c:pt>
                <c:pt idx="5">
                  <c:v>174</c:v>
                </c:pt>
                <c:pt idx="6">
                  <c:v>229</c:v>
                </c:pt>
                <c:pt idx="7">
                  <c:v>148</c:v>
                </c:pt>
                <c:pt idx="8">
                  <c:v>142</c:v>
                </c:pt>
                <c:pt idx="9">
                  <c:v>139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Tags</c:v>
                </c:pt>
              </c:strCache>
            </c:strRef>
          </c:tx>
          <c:spPr>
            <a:solidFill>
              <a:srgbClr val="F9C8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Cesar93</c:v>
                  </c:pt>
                  <c:pt idx="1">
                    <c:v>Eveline95</c:v>
                  </c:pt>
                  <c:pt idx="2">
                    <c:v>Clint27</c:v>
                  </c:pt>
                  <c:pt idx="3">
                    <c:v>Aurelie71</c:v>
                  </c:pt>
                  <c:pt idx="4">
                    <c:v>Delfina_V68</c:v>
                  </c:pt>
                  <c:pt idx="5">
                    <c:v>Donald.F</c:v>
                  </c:pt>
                  <c:pt idx="6">
                    <c:v>Jaime53</c:v>
                  </c:pt>
                  <c:pt idx="7">
                    <c:v>Alexandro35</c:v>
                  </c:pt>
                  <c:pt idx="8">
                    <c:v>Adelle96</c:v>
                  </c:pt>
                  <c:pt idx="9">
                    <c:v>Travon.W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16</c:v>
                </c:pt>
                <c:pt idx="1">
                  <c:v>24</c:v>
                </c:pt>
                <c:pt idx="2">
                  <c:v>26</c:v>
                </c:pt>
                <c:pt idx="3">
                  <c:v>20</c:v>
                </c:pt>
                <c:pt idx="4">
                  <c:v>17</c:v>
                </c:pt>
                <c:pt idx="5">
                  <c:v>15</c:v>
                </c:pt>
                <c:pt idx="6">
                  <c:v>15</c:v>
                </c:pt>
                <c:pt idx="7">
                  <c:v>7</c:v>
                </c:pt>
                <c:pt idx="8">
                  <c:v>15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B5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32B5C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232B5C"/>
                </a:solidFill>
                <a:latin typeface="Calibri"/>
              </a:rPr>
              <a:t>Top 10 Hashtags by Avg. Likes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 Hashtags by Avg. Likes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B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dreamy</c:v>
                  </c:pt>
                  <c:pt idx="1">
                    <c:v>beauty</c:v>
                  </c:pt>
                  <c:pt idx="2">
                    <c:v>stunning</c:v>
                  </c:pt>
                  <c:pt idx="3">
                    <c:v>delicious</c:v>
                  </c:pt>
                  <c:pt idx="4">
                    <c:v>foodie</c:v>
                  </c:pt>
                  <c:pt idx="5">
                    <c:v>happy</c:v>
                  </c:pt>
                  <c:pt idx="6">
                    <c:v>hair</c:v>
                  </c:pt>
                  <c:pt idx="7">
                    <c:v>photography</c:v>
                  </c:pt>
                  <c:pt idx="8">
                    <c:v>beach</c:v>
                  </c:pt>
                  <c:pt idx="9">
                    <c:v>style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35.75</c:v>
                </c:pt>
                <c:pt idx="1">
                  <c:v>34.95</c:v>
                </c:pt>
                <c:pt idx="2">
                  <c:v>34.94</c:v>
                </c:pt>
                <c:pt idx="3">
                  <c:v>34.93</c:v>
                </c:pt>
                <c:pt idx="4">
                  <c:v>34.73</c:v>
                </c:pt>
                <c:pt idx="5">
                  <c:v>34.59</c:v>
                </c:pt>
                <c:pt idx="6">
                  <c:v>34.52</c:v>
                </c:pt>
                <c:pt idx="7">
                  <c:v>34.5</c:v>
                </c:pt>
                <c:pt idx="8">
                  <c:v>34.48</c:v>
                </c:pt>
                <c:pt idx="9">
                  <c:v>34.47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B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32B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PULSE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 for a Meta/Instagram-Style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storytelling journey through 100 users, 257 posts and nearly 24,000 interactions — from raw rows to real business decisions.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956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5394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489204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4956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16352" y="5394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489204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4956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5394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489204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4956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11696" y="5394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Ritik Bhoi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WE'RE ENTERING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ig_clone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Instagram-clone platform, turned into a data-driven story that supports real product, growth and marketing decisions — every finding follows SQL Analysis → Business Insight → Action.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2278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50792" y="306324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50792" y="32278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050792" y="4023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52944" y="306324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52944" y="32278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7,488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552944" y="4023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9743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8,782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48640" y="57698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50792" y="4809744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50792" y="49743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7,623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050792" y="57698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52944" y="4809744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52944" y="49743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552944" y="57698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5240" y="1417320"/>
            <a:ext cx="914400" cy="91440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2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527048"/>
            <a:ext cx="694944" cy="6949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732520" y="13716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relational tables · joins, window functions, CTEs &amp; self-joins power 13 objective + 10 subjective business questions.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Foundation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HAVING COUNT(*) &gt; 1 across all 7 tables, unified with UNION ALL into one audit.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came back clean — no duplicate likes, follows, tags or usernames anywhere in the dataset.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PRIMARY KEY / UNIQUE constraints now, so the data stays trustworthy as the platform scales.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1783080"/>
            <a:ext cx="50749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2606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6720840" y="3886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FOUND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1371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66344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tables — comments, follows, likes, photo_tags, photos, tags, users — passed the audit clean.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Users?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users to photos, likes and comments so even silent users are counted, not just the loud ones.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core of creators posts far more than everyone else — the rest form a long, quiet tail.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ranked view to define the tiers every later chapter builds 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355080" y="1965960"/>
          <a:ext cx="50749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4" name="Image 0" descr="icons/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of Tags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COUNT(tag_id) over COUNT(DISTINCT post), rounded with ROUND(…, 2).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carry roughly two tags each — moderate tagging, with real room to grow.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creators to add a 3rd or 4th tag to boost discovery and search reach.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1783080"/>
            <a:ext cx="50749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2606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1.95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6720840" y="3886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TAGS PER POST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1371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66344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rounded average that quietly shapes how discoverable every post really is.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Engagement Elite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users → photos, LEFT JOIN likes &amp; comments, then RANK() OVER total engagement.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 leads with 405 combined interactions — nearly double the #10 spot.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top tier is worth protecting first: badges, early access, loyalty perks.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355080" y="1965960"/>
          <a:ext cx="50749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4" name="Image 0" descr="icons/user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vs. Network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LEFT JOINs on follows — one counts followers, one counts following — per user.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most-followed users all sit at the same 77-follower ceiling, with zero following back.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reach from network activity when picking influencer partners.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1783080"/>
            <a:ext cx="50749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2606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6720840" y="3886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FOLLOWER COUNT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1371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66344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Kenton_Kirlin, Eveline95, Jaime53 and others all share the platform's follower ceiling.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4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Over Quantity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ROUND((likes + comments) / posts, 2) — engagement per post, not per profile.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Meggie_Doyle averages 75 interactions per post — a selective creator, not a prolific one.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high-quality-per-post creators even if their total post count is modest.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355080" y="1965960"/>
          <a:ext cx="50749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5B6178"/>
          </a:solidFill>
          <a:ln/>
        </p:spPr>
      </p:sp>
      <p:pic>
        <p:nvPicPr>
          <p:cNvPr id="4" name="Image 0" descr="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Silent Majority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users to likes, then WHERE l.user_id IS NULL — a clean anti-join.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slice of users has never tapped a single like since joining.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list into a dedicated re-engagement campaign, not a generic one.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1783080"/>
            <a:ext cx="50749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2606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6720840" y="3886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GIVEN, EVER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1371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66344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Kenton_Kirlin, Kasandra_Homenick, Eveline95 and dozens more sit in this segment — present, but silent.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bull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Content to Campaigns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hashtags and photo tags each carry a different signal — together they build interest-based audience segments for sharper, more personal ad targeting.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51660" y="2880360"/>
            <a:ext cx="914400" cy="91440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9" name="Image 1" descr="icon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88" y="299008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9776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68680" y="44805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broad interests — travel, fitness, food, fashion, tech.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46420" y="28803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icons/hash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148" y="2990088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39776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4663440" y="44805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specific topics and trends users actively engage with.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3816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441180" y="2880360"/>
            <a:ext cx="914400" cy="91440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19" name="Image 3" descr="icons/list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908" y="2990088"/>
            <a:ext cx="694944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39776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Tags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8458200" y="44805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interest in exact products, brands, people or places.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sharper segmentation → more relevant ads → stronger engagement and conversion.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4" name="Image 0" descr="icons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Content Wins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engagement across formats — photos, videos, reels — reveals which content to prioritize in creation, curation and recommendations.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10881360" cy="3383280"/>
          </a:xfrm>
          <a:prstGeom prst="roundRect">
            <a:avLst>
              <a:gd name="adj" fmla="val 3243"/>
            </a:avLst>
          </a:prstGeom>
          <a:solidFill>
            <a:srgbClr val="1A204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TODAY COVERS PHOTOS ONLY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76272" y="352044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41" y="3613709"/>
            <a:ext cx="590702" cy="5907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14300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tracked — likes, comments, tags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324612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88152" y="3520440"/>
            <a:ext cx="777240" cy="777240"/>
          </a:xfrm>
          <a:prstGeom prst="ellipse">
            <a:avLst/>
          </a:prstGeom>
          <a:solidFill>
            <a:srgbClr val="4A5285"/>
          </a:solidFill>
          <a:ln/>
        </p:spPr>
      </p:sp>
      <p:pic>
        <p:nvPicPr>
          <p:cNvPr id="16" name="Image 2" descr="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1" y="3613709"/>
            <a:ext cx="590702" cy="5907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262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5488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 schema — extend to unlock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38160" y="324612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232B5C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00032" y="3520440"/>
            <a:ext cx="777240" cy="777240"/>
          </a:xfrm>
          <a:prstGeom prst="ellipse">
            <a:avLst/>
          </a:prstGeom>
          <a:solidFill>
            <a:srgbClr val="4A5285"/>
          </a:solidFill>
          <a:ln/>
        </p:spPr>
      </p:sp>
      <p:pic>
        <p:nvPicPr>
          <p:cNvPr id="21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301" y="3613709"/>
            <a:ext cx="590702" cy="5907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36676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 schema — extend to unlock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4" name="Image 0" descr="icons/lis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query, three metrics per user — likes, comments and photo tags received — computed together with COUNT(DISTINCT …) to avoid join fan-out.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777240" y="2560320"/>
          <a:ext cx="104241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me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Leaderboard, Revisited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RANK() OVER pattern, applied again — likes plus comments, since the dataset has no shares field to add.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109960" cy="713232"/>
          </a:xfrm>
          <a:prstGeom prst="roundRect">
            <a:avLst>
              <a:gd name="adj" fmla="val 11538"/>
            </a:avLst>
          </a:prstGeom>
          <a:solidFill>
            <a:srgbClr val="232B5C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459736"/>
            <a:ext cx="457200" cy="45720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59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38658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97680" y="2578608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343C6E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2578608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0" y="238658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172968"/>
            <a:ext cx="11109960" cy="713232"/>
          </a:xfrm>
          <a:prstGeom prst="roundRect">
            <a:avLst>
              <a:gd name="adj" fmla="val 11538"/>
            </a:avLst>
          </a:prstGeom>
          <a:solidFill>
            <a:srgbClr val="232B5C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3300984"/>
            <a:ext cx="457200" cy="457200"/>
          </a:xfrm>
          <a:prstGeom prst="ellipse">
            <a:avLst/>
          </a:prstGeom>
          <a:solidFill>
            <a:srgbClr val="C7CBE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2278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Cesar93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297680" y="3419856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343C6E"/>
          </a:solidFill>
          <a:ln/>
        </p:spPr>
      </p:sp>
      <p:sp>
        <p:nvSpPr>
          <p:cNvPr id="19" name="Shape 16"/>
          <p:cNvSpPr/>
          <p:nvPr/>
        </p:nvSpPr>
        <p:spPr>
          <a:xfrm>
            <a:off x="4297680" y="3419856"/>
            <a:ext cx="6606258" cy="219456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0" y="322783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385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014216"/>
            <a:ext cx="11109960" cy="713232"/>
          </a:xfrm>
          <a:prstGeom prst="roundRect">
            <a:avLst>
              <a:gd name="adj" fmla="val 11538"/>
            </a:avLst>
          </a:prstGeom>
          <a:solidFill>
            <a:srgbClr val="232B5C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4142232"/>
            <a:ext cx="457200" cy="457200"/>
          </a:xfrm>
          <a:prstGeom prst="ellipse">
            <a:avLst/>
          </a:prstGeom>
          <a:solidFill>
            <a:srgbClr val="6D74A6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Clint27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4297680" y="4261104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343C6E"/>
          </a:solidFill>
          <a:ln/>
        </p:spPr>
      </p:sp>
      <p:sp>
        <p:nvSpPr>
          <p:cNvPr id="26" name="Shape 23"/>
          <p:cNvSpPr/>
          <p:nvPr/>
        </p:nvSpPr>
        <p:spPr>
          <a:xfrm>
            <a:off x="4297680" y="4261104"/>
            <a:ext cx="6434667" cy="219456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0" y="40690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855464"/>
            <a:ext cx="11109960" cy="713232"/>
          </a:xfrm>
          <a:prstGeom prst="roundRect">
            <a:avLst>
              <a:gd name="adj" fmla="val 11538"/>
            </a:avLst>
          </a:prstGeom>
          <a:solidFill>
            <a:srgbClr val="232B5C"/>
          </a:solidFill>
          <a:ln/>
        </p:spPr>
      </p:sp>
      <p:sp>
        <p:nvSpPr>
          <p:cNvPr id="29" name="Shape 26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6D74A6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371600" y="49103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Delfina_VonRueden68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4297680" y="5102352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343C6E"/>
          </a:solidFill>
          <a:ln/>
        </p:spPr>
      </p:sp>
      <p:sp>
        <p:nvSpPr>
          <p:cNvPr id="33" name="Shape 30"/>
          <p:cNvSpPr/>
          <p:nvPr/>
        </p:nvSpPr>
        <p:spPr>
          <a:xfrm>
            <a:off x="4297680" y="5102352"/>
            <a:ext cx="5954212" cy="219456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/>
        </p:spPr>
      </p:sp>
      <p:sp>
        <p:nvSpPr>
          <p:cNvPr id="34" name="Text 31"/>
          <p:cNvSpPr/>
          <p:nvPr/>
        </p:nvSpPr>
        <p:spPr>
          <a:xfrm>
            <a:off x="11430000" y="491032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347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696712"/>
            <a:ext cx="11109960" cy="713232"/>
          </a:xfrm>
          <a:prstGeom prst="roundRect">
            <a:avLst>
              <a:gd name="adj" fmla="val 11538"/>
            </a:avLst>
          </a:prstGeom>
          <a:solidFill>
            <a:srgbClr val="232B5C"/>
          </a:solidFill>
          <a:ln/>
        </p:spPr>
      </p:sp>
      <p:sp>
        <p:nvSpPr>
          <p:cNvPr id="36" name="Shape 33"/>
          <p:cNvSpPr/>
          <p:nvPr/>
        </p:nvSpPr>
        <p:spPr>
          <a:xfrm>
            <a:off x="731520" y="5824728"/>
            <a:ext cx="457200" cy="457200"/>
          </a:xfrm>
          <a:prstGeom prst="ellipse">
            <a:avLst/>
          </a:prstGeom>
          <a:solidFill>
            <a:srgbClr val="6D74A6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824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71600" y="575157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Aurelie71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4297680" y="5943600"/>
            <a:ext cx="6949440" cy="219456"/>
          </a:xfrm>
          <a:prstGeom prst="roundRect">
            <a:avLst>
              <a:gd name="adj" fmla="val 20833"/>
            </a:avLst>
          </a:prstGeom>
          <a:solidFill>
            <a:srgbClr val="343C6E"/>
          </a:solidFill>
          <a:ln/>
        </p:spPr>
      </p:sp>
      <p:sp>
        <p:nvSpPr>
          <p:cNvPr id="40" name="Shape 37"/>
          <p:cNvSpPr/>
          <p:nvPr/>
        </p:nvSpPr>
        <p:spPr>
          <a:xfrm>
            <a:off x="4297680" y="5943600"/>
            <a:ext cx="5456597" cy="219456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/>
        </p:spPr>
      </p:sp>
      <p:sp>
        <p:nvSpPr>
          <p:cNvPr id="41" name="Text 38"/>
          <p:cNvSpPr/>
          <p:nvPr/>
        </p:nvSpPr>
        <p:spPr>
          <a:xfrm>
            <a:off x="11430000" y="575157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field ties engagement to a month — add WHERE date &gt;= '2026-01-01' to make this a rolling monthly board.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4" name="Image 0" descr="icons/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Hashtags That Hook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computes avg likes per hashtag first, then the outer query ranks highest to lowest.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#dreamy tops the board at 35.75 avg likes — every top tag clusters tightly near 34-36.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these tags in recommendations and pitch them to aligned advertisers.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355080" y="1965960"/>
          <a:ext cx="50749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232B5C"/>
          </a:solidFill>
          <a:ln/>
        </p:spPr>
      </p:sp>
      <p:pic>
        <p:nvPicPr>
          <p:cNvPr id="4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Love, Returned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self-join on follows, matching reciprocal pairs and comparing created_at to see who moved first.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912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share of connections do get returned — not every follow is one-directional.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18304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085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reciprocity rate over time as a direct signal of community health.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1783080"/>
            <a:ext cx="50749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232B5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2606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⇄ B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6720840" y="3886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FOLLOWS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1371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66344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self-join with a created_at inequality turns one table into a timeline of mutual connections.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expression turns each user's combined posts, likes and comments into one of three segments — ready for targeted marketing.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3012948"/>
            <a:ext cx="237744" cy="237744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2660904"/>
            <a:ext cx="31089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Active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2000" y="2660904"/>
            <a:ext cx="6903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features, loyalty rewards, influencer &amp; creator campaigns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4005072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4503420"/>
            <a:ext cx="237744" cy="23774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4151376"/>
            <a:ext cx="31089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Moderately Active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0" y="4151376"/>
            <a:ext cx="6903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content and engagement campaigns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5495544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5993892"/>
            <a:ext cx="237744" cy="237744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5641848"/>
            <a:ext cx="31089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Activity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5641848"/>
            <a:ext cx="6903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Welcome-back offers, notifications, contests, posting incentives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0" y="384048"/>
            <a:ext cx="777240" cy="77724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4" name="Image 0" descr="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1669" y="477317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Story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closing questions look beyond the 23 given prompts: a data-driven method with no questions supplied, and a simple terminology update.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5321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232B5C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METHOD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03580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53312" y="29992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53872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53312" y="350215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data understanding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68680" y="404164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53312" y="40050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validation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68680" y="454456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544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53312" y="45079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68680" y="504748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047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53312" y="50109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segmentation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8680" y="5550408"/>
            <a:ext cx="310896" cy="310896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5550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53312" y="55138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recommendations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263640" y="23774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1A2049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TERMINOLOGY UPDATE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583680" y="2971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User_Interactions table tracked engagement, aligning it to Instagram's language is one statement: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0" y="384048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10143A"/>
          </a:solidFill>
          <a:ln w="12700">
            <a:solidFill>
              <a:srgbClr val="343C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0" y="39776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C8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User_Interactions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C8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Engagement_Type = 'Heart'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C8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Engagement_Type = 'Like';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583680" y="5440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— the table isn't part of the current dataset, so this stays illustrative rather than executed.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232B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840480"/>
            <a:ext cx="4937760" cy="493776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9C846"/>
          </a:solidFill>
          <a:ln/>
        </p:spPr>
      </p:sp>
      <p:pic>
        <p:nvPicPr>
          <p:cNvPr id="5" name="Image 0" descr="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15 Chapters to One Roadmap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017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engagement elite with badges, early access and loyalty perks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950208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76732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the silent majority with segmented, personalized re-engagement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700016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517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campaigns using hashtags, tags and posts — not just demographics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5449824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526694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reciprocal follows and top creators as signals of community health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6263640"/>
            <a:ext cx="10058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6400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output and visualizations for every question are documented in the companion Word report.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2026-08-19T05:25:20Z</dcterms:created>
  <dcterms:modified xsi:type="dcterms:W3CDTF">2026-08-19T05:25:20Z</dcterms:modified>
</cp:coreProperties>
</file>